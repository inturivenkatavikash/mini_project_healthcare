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92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92C"/>
                </a:solidFill>
                <a:latin typeface="Calibri"/>
              </a:rPr>
              <a:t>Final Train vs. Validation Accuracy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73B4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629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73B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76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Training</c:v>
                  </c:pt>
                  <c:pt idx="1">
                    <c:v>Validation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65.6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629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9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3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B4C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/>
          <p:nvPr/>
        </p:nvSpPr>
        <p:spPr>
          <a:xfrm>
            <a:off x="9966960" y="274320"/>
            <a:ext cx="1463100" cy="1463100"/>
          </a:xfrm>
          <a:prstGeom prst="ellipse">
            <a:avLst/>
          </a:prstGeom>
          <a:noFill/>
          <a:ln cap="flat" cmpd="sng" w="19050">
            <a:solidFill>
              <a:srgbClr val="3FA7B3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0172700" y="480060"/>
            <a:ext cx="1051500" cy="1051500"/>
          </a:xfrm>
          <a:prstGeom prst="ellipse">
            <a:avLst/>
          </a:prstGeom>
          <a:noFill/>
          <a:ln cap="flat" cmpd="sng" w="19050">
            <a:solidFill>
              <a:srgbClr val="3FA7B3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0378440" y="685800"/>
            <a:ext cx="640200" cy="640200"/>
          </a:xfrm>
          <a:prstGeom prst="ellipse">
            <a:avLst/>
          </a:prstGeom>
          <a:noFill/>
          <a:ln cap="flat" cmpd="sng" w="19050">
            <a:solidFill>
              <a:srgbClr val="3FA7B3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91440" y="5303520"/>
            <a:ext cx="1463100" cy="1463100"/>
          </a:xfrm>
          <a:prstGeom prst="ellipse">
            <a:avLst/>
          </a:prstGeom>
          <a:noFill/>
          <a:ln cap="flat" cmpd="sng" w="19050">
            <a:solidFill>
              <a:srgbClr val="3FA7B3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297180" y="5509260"/>
            <a:ext cx="1051500" cy="1051500"/>
          </a:xfrm>
          <a:prstGeom prst="ellipse">
            <a:avLst/>
          </a:prstGeom>
          <a:noFill/>
          <a:ln cap="flat" cmpd="sng" w="19050">
            <a:solidFill>
              <a:srgbClr val="3FA7B3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502920" y="5715000"/>
            <a:ext cx="640200" cy="640200"/>
          </a:xfrm>
          <a:prstGeom prst="ellipse">
            <a:avLst/>
          </a:prstGeom>
          <a:noFill/>
          <a:ln cap="flat" cmpd="sng" w="19050">
            <a:solidFill>
              <a:srgbClr val="3FA7B3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822960" y="2084832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3C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C3CE"/>
                </a:solidFill>
                <a:latin typeface="Calibri"/>
                <a:ea typeface="Calibri"/>
                <a:cs typeface="Calibri"/>
                <a:sym typeface="Calibri"/>
              </a:rPr>
              <a:t>SEMINAR PRESENTATION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777240" y="2450592"/>
            <a:ext cx="10515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Lung Cancer Detection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822960" y="3456432"/>
            <a:ext cx="960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8EA"/>
                </a:solidFill>
                <a:latin typeface="Calibri"/>
                <a:ea typeface="Calibri"/>
                <a:cs typeface="Calibri"/>
                <a:sym typeface="Calibri"/>
              </a:rPr>
              <a:t>A Deep-Learning System for Classifying Lung CT Scans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822960" y="3950208"/>
            <a:ext cx="960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3C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FC3CE"/>
                </a:solidFill>
                <a:latin typeface="Calibri"/>
                <a:ea typeface="Calibri"/>
                <a:cs typeface="Calibri"/>
                <a:sym typeface="Calibri"/>
              </a:rPr>
              <a:t>Transfer Learning (Xception)  •  FastAPI Backend  •  React Frontend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"/>
          <p:cNvCxnSpPr/>
          <p:nvPr/>
        </p:nvCxnSpPr>
        <p:spPr>
          <a:xfrm>
            <a:off x="965478" y="2551173"/>
            <a:ext cx="2926200" cy="0"/>
          </a:xfrm>
          <a:prstGeom prst="straightConnector1">
            <a:avLst/>
          </a:prstGeom>
          <a:noFill/>
          <a:ln cap="flat" cmpd="sng" w="317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1728216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029968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lung-cancer screening matters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807208"/>
            <a:ext cx="512064" cy="512064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807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2752344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054096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CT image dataset and train / validation split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831336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38313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3776472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07592" y="4078224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upload to prediction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855464"/>
            <a:ext cx="512064" cy="512064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855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4800600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07592" y="5102352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transfer learning + classification head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783080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72200" y="17830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85432" y="1728216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85432" y="2029968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image transforms used at training &amp; inference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807208"/>
            <a:ext cx="512064" cy="512064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2807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2752344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Results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3054096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Hyperparameters, accuracy, and overfitting analysis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3831336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38313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85432" y="3776472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85432" y="4078224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and React frontend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4855464"/>
            <a:ext cx="512064" cy="512064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72200" y="4855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885432" y="4800600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5102352"/>
            <a:ext cx="44074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can go next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Automated Screening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" cy="512064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19656"/>
            <a:ext cx="9893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is one of the leading causes of cancer death worldwide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121408"/>
            <a:ext cx="9893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depend heavily on how early the disease is detected and treated.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72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118104"/>
            <a:ext cx="9893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CT scans is slow and subjective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19856"/>
            <a:ext cx="9893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must visually distinguish subtypes on high volumes of imaging, and readings can vary between experts.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471416"/>
            <a:ext cx="512064" cy="512064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714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416552"/>
            <a:ext cx="9893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need for consistent, automated decision support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718304"/>
            <a:ext cx="9893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can flag likely malignancy subtypes quickly, helping prioritize cases for expert review.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2039112"/>
            <a:ext cx="457200" cy="457200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651760"/>
            <a:ext cx="4562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CT images into 4 clinically relevant categories using a convolutional neural network.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203911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4535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2651760"/>
            <a:ext cx="4562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transfer learning (Xception, pre-trained on ImageNet) instead of training a CNN from scratch.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" y="4233672"/>
            <a:ext cx="457200" cy="457200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" y="4846320"/>
            <a:ext cx="4562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exact training-time preprocessing at inference so predictions stay reliable.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397764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1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5352" y="423367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4535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45352" y="4846320"/>
            <a:ext cx="4562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model through a REST API and a web interface so it is usable beyond a notebook.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Diagnostic Classes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328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8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38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8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IMAGES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862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44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8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CLASSES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834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folders are mapped to label indices in alphabetical order via Keras’ flow_from_directory.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874520"/>
          <a:ext cx="6629400" cy="27432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1600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Adenocarcinoma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Cell Carcinoma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A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Squamous Cell Carcinoma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0" y="4846320"/>
            <a:ext cx="6629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split is roughly 66 / 34, which is a small dataset for training a deep model from scratch — motivating the transfer-learning approach.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965960" cy="1143000"/>
          </a:xfrm>
          <a:prstGeom prst="roundRect">
            <a:avLst>
              <a:gd name="adj" fmla="val 7200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256032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907792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 CT image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4688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90088" y="2468880"/>
            <a:ext cx="1965960" cy="1143000"/>
          </a:xfrm>
          <a:prstGeom prst="roundRect">
            <a:avLst>
              <a:gd name="adj" fmla="val 7200"/>
            </a:avLst>
          </a:prstGeom>
          <a:solidFill>
            <a:srgbClr val="118AB2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256032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907792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19 UI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4688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40096" y="2468880"/>
            <a:ext cx="1965960" cy="1143000"/>
          </a:xfrm>
          <a:prstGeom prst="roundRect">
            <a:avLst>
              <a:gd name="adj" fmla="val 7200"/>
            </a:avLst>
          </a:prstGeom>
          <a:solidFill>
            <a:srgbClr val="073B4C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13248" y="256032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2907792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endpoint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306056" y="24688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90104" y="2468880"/>
            <a:ext cx="1965960" cy="1143000"/>
          </a:xfrm>
          <a:prstGeom prst="roundRect">
            <a:avLst>
              <a:gd name="adj" fmla="val 7200"/>
            </a:avLst>
          </a:prstGeom>
          <a:solidFill>
            <a:srgbClr val="118AB2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63256" y="256032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63256" y="2907792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· array · rescale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656064" y="2468880"/>
            <a:ext cx="384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40112" y="2468880"/>
            <a:ext cx="1965960" cy="1143000"/>
          </a:xfrm>
          <a:prstGeom prst="roundRect">
            <a:avLst>
              <a:gd name="adj" fmla="val 7200"/>
            </a:avLst>
          </a:prstGeom>
          <a:solidFill>
            <a:srgbClr val="EF476F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113264" y="2560320"/>
            <a:ext cx="181965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Model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113264" y="2907792"/>
            <a:ext cx="181965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4 classes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11365992" cy="1234440"/>
          </a:xfrm>
          <a:prstGeom prst="roundRect">
            <a:avLst>
              <a:gd name="adj" fmla="val 7407"/>
            </a:avLst>
          </a:prstGeom>
          <a:solidFill>
            <a:srgbClr val="F1F6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3434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path: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softmax probabilities → the backend packages predicted_class, confidence, and per-class probabilities as JSON → the React UI renders the result back to the user.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loaded once at application startup, not on every request, to avoid reloading ~80 MB of weights repeatedly.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with Xception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073B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backbone (frozen)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 · input 350×350×3 · output (11,11,2048)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6974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53512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118A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04495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GlobalAveragePooling2D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1071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feature maps to a (2048,) vector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8221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078224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EF47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16966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Dense(4, softmax)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3542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trainable layer — outputs class probabilities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1828800"/>
            <a:ext cx="4480560" cy="3794760"/>
          </a:xfrm>
          <a:prstGeom prst="roundRect">
            <a:avLst>
              <a:gd name="adj" fmla="val 2410"/>
            </a:avLst>
          </a:prstGeom>
          <a:solidFill>
            <a:srgbClr val="F1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0" y="19933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Breakdown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3957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6243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20,869,676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9900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(Dense head)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186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8,196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84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Non-trainable (Xception)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8130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20,861,480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178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on disk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4074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~79.6 MB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8280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0.04% of parameters are updated during training — the Xception backbone acts purely as a frozen feature extractor.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623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Adam optimizer · categorical_crossentropy loss · accuracy metric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517904" cy="1234440"/>
          </a:xfrm>
          <a:prstGeom prst="roundRect">
            <a:avLst>
              <a:gd name="adj" fmla="val 666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76072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4505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load via Keras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20824" y="201168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76856" y="2011680"/>
            <a:ext cx="1517904" cy="1234440"/>
          </a:xfrm>
          <a:prstGeom prst="roundRect">
            <a:avLst>
              <a:gd name="adj" fmla="val 666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50008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50008" y="24505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350×350 px, RGB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01168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50792" y="2011680"/>
            <a:ext cx="1517904" cy="1234440"/>
          </a:xfrm>
          <a:prstGeom prst="roundRect">
            <a:avLst>
              <a:gd name="adj" fmla="val 666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123944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Array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23944" y="24505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tensor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568696" y="201168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24728" y="2011680"/>
            <a:ext cx="1517904" cy="1234440"/>
          </a:xfrm>
          <a:prstGeom prst="roundRect">
            <a:avLst>
              <a:gd name="adj" fmla="val 6667"/>
            </a:avLst>
          </a:prstGeom>
          <a:solidFill>
            <a:srgbClr val="F1F6F6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89788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Dims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24505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batch axis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42632" y="201168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598664" y="2011680"/>
            <a:ext cx="1517904" cy="1234440"/>
          </a:xfrm>
          <a:prstGeom prst="roundRect">
            <a:avLst>
              <a:gd name="adj" fmla="val 6667"/>
            </a:avLst>
          </a:prstGeom>
          <a:solidFill>
            <a:srgbClr val="118AB2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671816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671816" y="245059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255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116568" y="2011680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436608" y="2011680"/>
            <a:ext cx="2194560" cy="1234440"/>
          </a:xfrm>
          <a:prstGeom prst="roundRect">
            <a:avLst>
              <a:gd name="adj" fmla="val 6667"/>
            </a:avLst>
          </a:prstGeom>
          <a:solidFill>
            <a:srgbClr val="EF476F"/>
          </a:solidFill>
          <a:ln/>
          <a:effectLst>
            <a:outerShdw sx="100000" sy="100000" kx="0" ky="0" algn="bl" rotWithShape="0" blurRad="76200" dist="25400" dir="5400000">
              <a:srgbClr val="0A1F22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509760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2450592"/>
            <a:ext cx="20482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(1, 350, 350, 3)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794760"/>
            <a:ext cx="10607040" cy="1600200"/>
          </a:xfrm>
          <a:prstGeom prst="roundRect">
            <a:avLst>
              <a:gd name="adj" fmla="val 5714"/>
            </a:avLst>
          </a:prstGeom>
          <a:solidFill>
            <a:srgbClr val="F1F6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3977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exact pipeline matters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31596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saved file is weights-only, so the same architecture and the same preprocessing used in training must be reproduced exactly at inference.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used rescale=1./255 plus horizontal_flip; only the rescale step is replayed at inference — flipping was a training-time augmentation only.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623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in the training notebook (Lung Cancer Pred.ipynb) and in backend/preprocessing.py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6400800" cy="41148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crossentropy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run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/ 50 (early stopping)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ReduceLROnPlateau · EarlyStopping · ModelCheckpoint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Train-time augmentation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flip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augmentation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(rescale only)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828800"/>
            <a:ext cx="3886200" cy="4114800"/>
          </a:xfrm>
          <a:prstGeom prst="roundRect">
            <a:avLst>
              <a:gd name="adj" fmla="val 2353"/>
            </a:avLst>
          </a:prstGeom>
          <a:solidFill>
            <a:srgbClr val="073B4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8952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Detail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46888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save_weights_only = True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best-performing weights (by validation loss) are saved — not the full model graph.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3977640"/>
            <a:ext cx="3337560" cy="0"/>
          </a:xfrm>
          <a:prstGeom prst="line">
            <a:avLst/>
          </a:prstGeom>
          <a:noFill/>
          <a:ln w="12700">
            <a:solidFill>
              <a:srgbClr val="2C667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4160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FC3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0.6547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48188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8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LOSS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5257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at epoch 42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Results &amp;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9436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82880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F1F6F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27.4 pt gap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542032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training accuracy (93.0%) and validation accuracy (65.6%) points to overfitting.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3749040"/>
            <a:ext cx="4297680" cy="1828800"/>
          </a:xfrm>
          <a:prstGeom prst="roundRect">
            <a:avLst>
              <a:gd name="adj" fmla="val 5000"/>
            </a:avLst>
          </a:prstGeom>
          <a:solidFill>
            <a:srgbClr val="073B4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3913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422452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A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8,196 trainable parameters and 613 training images, the classification head has limited capacity to generalize past the training set.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FastAPI Service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FastAPI · Uvicorn · TensorFlow / Keras · NumPy · Pillow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607040" cy="164592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7589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A7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9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server status and whether the model is 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7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9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/predict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Accepts an uploaded image, returns predicted class, confidence, and per-class probabilities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977640"/>
            <a:ext cx="3227832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41248" y="416052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loaded once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4498848"/>
            <a:ext cx="2862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during app startup (lifespan handler) instead of per-request, avoiding repeated ~80 MB loads.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50792" y="3977640"/>
            <a:ext cx="3227832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51960" y="416052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4498848"/>
            <a:ext cx="2862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React frontend, served from a different port, to call the API directly.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61504" y="3977640"/>
            <a:ext cx="3227832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62672" y="4160520"/>
            <a:ext cx="2862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uploads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62672" y="4498848"/>
            <a:ext cx="2862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unsupported content types and empty files before preprocessing runs.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React Application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 19 · Vite · lucide-react icons · Oxlint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02536"/>
            <a:ext cx="9893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304288"/>
            <a:ext cx="9893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or drags a CT scan image into the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12064" cy="512064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2962656"/>
            <a:ext cx="9893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264408"/>
            <a:ext cx="9893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the image to the backend’s POST /predict endpoint.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776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22776"/>
            <a:ext cx="9893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224528"/>
            <a:ext cx="9893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class, confidence score, and per-class probabilities are rendered.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F1F6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21208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Vite?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dev server with hot-module reload, and a lean production build — well suited to a lightweight, single-purpose diagnostic UI.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</a:t>
            </a:r>
            <a:pPr indent="0" marL="0">
              <a:buNone/>
            </a:pPr>
            <a:r>
              <a:rPr lang="en-US" sz="1250" b="1" spc="12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Can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C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774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Dense layer is trained (8,196 of 20.9M params) — limited capacity to adapt features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735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7355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point train/validation accuracy gap indicates overfitting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6966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169664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dataset: 613 training images across 4 classes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6577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5065776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Weights-only checkpoint requires exact architecture reconstruction to load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7830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E6F5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37744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3774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top layers of Xception instead of keeping it fully frozen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27355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7355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dataset and add stronger augmentation to reduce overfitting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169664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16966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Grad-CAM visualizations to explain which image regions drove a prediction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506577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06577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and deploy the full stack (Docker) with monitoring in place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CANCER DETECTION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B4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10332720" y="91440"/>
            <a:ext cx="1463100" cy="1463100"/>
          </a:xfrm>
          <a:prstGeom prst="ellipse">
            <a:avLst/>
          </a:prstGeom>
          <a:noFill/>
          <a:ln cap="flat" cmpd="sng" w="19050">
            <a:solidFill>
              <a:srgbClr val="3FA7B3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0538460" y="297180"/>
            <a:ext cx="1051500" cy="1051500"/>
          </a:xfrm>
          <a:prstGeom prst="ellipse">
            <a:avLst/>
          </a:prstGeom>
          <a:noFill/>
          <a:ln cap="flat" cmpd="sng" w="19050">
            <a:solidFill>
              <a:srgbClr val="3FA7B3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10744200" y="502920"/>
            <a:ext cx="640200" cy="640200"/>
          </a:xfrm>
          <a:prstGeom prst="ellipse">
            <a:avLst/>
          </a:prstGeom>
          <a:noFill/>
          <a:ln cap="flat" cmpd="sng" w="19050">
            <a:solidFill>
              <a:srgbClr val="3FA7B3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1440" y="5394960"/>
            <a:ext cx="1463100" cy="1463100"/>
          </a:xfrm>
          <a:prstGeom prst="ellipse">
            <a:avLst/>
          </a:prstGeom>
          <a:noFill/>
          <a:ln cap="flat" cmpd="sng" w="19050">
            <a:solidFill>
              <a:srgbClr val="3FA7B3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297180" y="5600700"/>
            <a:ext cx="1051500" cy="1051500"/>
          </a:xfrm>
          <a:prstGeom prst="ellipse">
            <a:avLst/>
          </a:prstGeom>
          <a:noFill/>
          <a:ln cap="flat" cmpd="sng" w="19050">
            <a:solidFill>
              <a:srgbClr val="3FA7B3">
                <a:alpha val="6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02920" y="5806440"/>
            <a:ext cx="640200" cy="640200"/>
          </a:xfrm>
          <a:prstGeom prst="ellipse">
            <a:avLst/>
          </a:prstGeom>
          <a:noFill/>
          <a:ln cap="flat" cmpd="sng" w="19050">
            <a:solidFill>
              <a:srgbClr val="3FA7B3">
                <a:alpha val="5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822960" y="13716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3C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C3CE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777240" y="1719072"/>
            <a:ext cx="10515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Working, End-to-End Diagnostic Prototype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822960" y="2606040"/>
            <a:ext cx="9418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8E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FE8EA"/>
                </a:solidFill>
                <a:latin typeface="Calibri"/>
                <a:ea typeface="Calibri"/>
                <a:cs typeface="Calibri"/>
                <a:sym typeface="Calibri"/>
              </a:rPr>
              <a:t>Xception transfer learning delivers strong training performance, and the FastAPI + React stack turns the model into a usable tool — with clear next steps to close the generalization gap before real-world use.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822960" y="3611880"/>
            <a:ext cx="329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3C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6FC3CE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22960" y="427024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7A80"/>
                </a:solidFill>
                <a:latin typeface="Calibri"/>
                <a:ea typeface="Calibri"/>
                <a:cs typeface="Calibri"/>
                <a:sym typeface="Calibri"/>
              </a:rPr>
              <a:t>CLASSES CLASSIFIED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206240" y="3611880"/>
            <a:ext cx="329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3C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6FC3CE"/>
                </a:solidFill>
                <a:latin typeface="Cambria"/>
                <a:ea typeface="Cambria"/>
                <a:cs typeface="Cambria"/>
                <a:sym typeface="Cambria"/>
              </a:rPr>
              <a:t>93%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206240" y="427024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7A80"/>
                </a:solidFill>
                <a:latin typeface="Calibri"/>
                <a:ea typeface="Calibri"/>
                <a:cs typeface="Calibri"/>
                <a:sym typeface="Calibri"/>
              </a:rPr>
              <a:t>TRAINING ACCURACY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7589520" y="3611880"/>
            <a:ext cx="329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3C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6FC3CE"/>
                </a:solidFill>
                <a:latin typeface="Cambria"/>
                <a:ea typeface="Cambria"/>
                <a:cs typeface="Cambria"/>
                <a:sym typeface="Cambria"/>
              </a:rPr>
              <a:t>Full-stack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7589520" y="427024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7A80"/>
                </a:solidFill>
                <a:latin typeface="Calibri"/>
                <a:ea typeface="Calibri"/>
                <a:cs typeface="Calibri"/>
                <a:sym typeface="Calibri"/>
              </a:rPr>
              <a:t>FASTAPI + REACT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3636191" y="5378703"/>
            <a:ext cx="3922800" cy="16200"/>
          </a:xfrm>
          <a:prstGeom prst="straightConnector1">
            <a:avLst/>
          </a:prstGeom>
          <a:noFill/>
          <a:ln cap="flat" cmpd="sng" w="31750">
            <a:solidFill>
              <a:srgbClr val="EF476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 txBox="1"/>
          <p:nvPr/>
        </p:nvSpPr>
        <p:spPr>
          <a:xfrm>
            <a:off x="4818491" y="5591548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HANK YOU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502920" y="6473952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6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C6CC"/>
                </a:solidFill>
                <a:latin typeface="Calibri"/>
                <a:ea typeface="Calibri"/>
                <a:cs typeface="Calibri"/>
                <a:sym typeface="Calibri"/>
              </a:rPr>
              <a:t>LUNG CANCER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1185855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C6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C6CC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